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49808"/>
            <a:ext cx="45720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Aptos"/>
              </a:defRPr>
            </a:pPr>
            <a:r>
              <a:t>CHAIN EXPLORER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25296"/>
            <a:ext cx="7132320" cy="10972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3900" b="1">
                <a:solidFill>
                  <a:srgbClr val="F5F8FF"/>
                </a:solidFill>
                <a:latin typeface="Aptos"/>
              </a:defRPr>
            </a:pPr>
            <a:r>
              <a:t>A source-grounded blockchain systems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79776"/>
            <a:ext cx="7498079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Aptos"/>
              </a:defRPr>
            </a:pPr>
            <a:r>
              <a:t>Educational account-model PoW simulator · FastAPI · Vanilla JS · SHA-256 · ECDSA · JSON/Fernet persistence</a:t>
            </a:r>
          </a:p>
        </p:txBody>
      </p:sp>
      <p:pic>
        <p:nvPicPr>
          <p:cNvPr id="6" name="Picture 5" descr="real_runtime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786384"/>
            <a:ext cx="4754880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6016752"/>
            <a:ext cx="27432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100" b="0">
                <a:solidFill>
                  <a:srgbClr val="94A3B8"/>
                </a:solidFill>
                <a:latin typeface="Aptos"/>
              </a:defRPr>
            </a:pPr>
            <a:r>
              <a:t>July 02,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02336"/>
            <a:ext cx="5303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766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600" b="1">
                <a:solidFill>
                  <a:srgbClr val="F5F8FF"/>
                </a:solidFill>
                <a:latin typeface="Aptos"/>
              </a:defRPr>
            </a:pPr>
            <a:r>
              <a:t>Blockchain education hides the implementation behind abstractions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46120" cy="1920240"/>
          </a:xfrm>
          <a:prstGeom prst="roundRect">
            <a:avLst/>
          </a:prstGeom>
          <a:solidFill>
            <a:srgbClr val="101831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1947672"/>
            <a:ext cx="282549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Learners see terms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2331720"/>
            <a:ext cx="2825496" cy="12801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Hash, nonce, mempool, signature, fork and consensus are usually introduced as vocabulary before students see state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783080"/>
            <a:ext cx="3246120" cy="1920240"/>
          </a:xfrm>
          <a:prstGeom prst="roundRect">
            <a:avLst/>
          </a:prstGeom>
          <a:solidFill>
            <a:srgbClr val="101831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1947672"/>
            <a:ext cx="282549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The code path is invisible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2331720"/>
            <a:ext cx="2825496" cy="12801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A UI click often hides request validation, signing, balance checks, mining, persistence and chart aggregation.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783080"/>
            <a:ext cx="3246120" cy="1920240"/>
          </a:xfrm>
          <a:prstGeom prst="roundRect">
            <a:avLst/>
          </a:prstGeom>
          <a:solidFill>
            <a:srgbClr val="101831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947672"/>
            <a:ext cx="282549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Production chains are too large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331720"/>
            <a:ext cx="2825496" cy="12801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Bitcoin/Ethereum are accurate, but too complex for first-principles architecture review in one defense.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074920"/>
            <a:ext cx="1024128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2200" b="1">
                <a:solidFill>
                  <a:srgbClr val="F5F8FF"/>
                </a:solidFill>
                <a:latin typeface="Aptos"/>
              </a:defRPr>
            </a:pPr>
            <a:r>
              <a:t>This project solves the observability problem: it makes the ledger, API, validation rules and security failures inspectable in one local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02336"/>
            <a:ext cx="5303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766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600" b="1">
                <a:solidFill>
                  <a:srgbClr val="F5F8FF"/>
                </a:solidFill>
                <a:latin typeface="Aptos"/>
              </a:defRPr>
            </a:pPr>
            <a:r>
              <a:t>A teaching ledger where every concept maps to running code</a:t>
            </a:r>
          </a:p>
        </p:txBody>
      </p:sp>
      <p:pic>
        <p:nvPicPr>
          <p:cNvPr id="5" name="Picture 4" descr="overview-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6492240" cy="4297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600200"/>
            <a:ext cx="3611880" cy="960120"/>
          </a:xfrm>
          <a:prstGeom prst="roundRect">
            <a:avLst/>
          </a:prstGeom>
          <a:solidFill>
            <a:srgbClr val="101831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45552" y="1764792"/>
            <a:ext cx="319125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Local-first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5552" y="2148840"/>
            <a:ext cx="319125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Two processes: static frontend and FastAPI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788920"/>
            <a:ext cx="3611880" cy="960120"/>
          </a:xfrm>
          <a:prstGeom prst="roundRect">
            <a:avLst/>
          </a:prstGeom>
          <a:solidFill>
            <a:srgbClr val="101831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45552" y="2953512"/>
            <a:ext cx="319125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Inspectable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3337560"/>
            <a:ext cx="319125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OpenAPI docs, live stats, blocks, mempool, wallets.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977639"/>
            <a:ext cx="3611880" cy="960120"/>
          </a:xfrm>
          <a:prstGeom prst="roundRect">
            <a:avLst/>
          </a:prstGeom>
          <a:solidFill>
            <a:srgbClr val="101831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4142231"/>
            <a:ext cx="319125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Safe experiments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4526279"/>
            <a:ext cx="319125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Tamper and 51% demos are educational and isolated.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02336"/>
            <a:ext cx="5303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766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600" b="1">
                <a:solidFill>
                  <a:srgbClr val="F5F8FF"/>
                </a:solidFill>
                <a:latin typeface="Aptos"/>
              </a:defRPr>
            </a:pPr>
            <a:r>
              <a:t>The presentation is derived from the implementation, not generic blockchain copy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4892040" cy="1417320"/>
          </a:xfrm>
          <a:prstGeom prst="roundRect">
            <a:avLst/>
          </a:prstGeom>
          <a:solidFill>
            <a:srgbClr val="101831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1764792"/>
            <a:ext cx="447141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2148840"/>
            <a:ext cx="4471416" cy="7772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36 Python modules read: routes, services, domain, persistence, sync, middleware.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00200"/>
            <a:ext cx="4892040" cy="1417320"/>
          </a:xfrm>
          <a:prstGeom prst="roundRect">
            <a:avLst/>
          </a:prstGeom>
          <a:solidFill>
            <a:srgbClr val="101831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1764792"/>
            <a:ext cx="447141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2148840"/>
            <a:ext cx="4471416" cy="7772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32 HTML/CSS/JS files read: view shell, rendering, cache, lazy modules, a11y.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66160"/>
            <a:ext cx="4892040" cy="1417320"/>
          </a:xfrm>
          <a:prstGeom prst="roundRect">
            <a:avLst/>
          </a:prstGeom>
          <a:solidFill>
            <a:srgbClr val="101831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3730752"/>
            <a:ext cx="447141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4114800"/>
            <a:ext cx="4471416" cy="7772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23 OpenAPI paths discovered; live chain validates with 11 blocks.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566160"/>
            <a:ext cx="4892040" cy="1417320"/>
          </a:xfrm>
          <a:prstGeom prst="roundRect">
            <a:avLst/>
          </a:prstGeom>
          <a:solidFill>
            <a:srgbClr val="101831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3730752"/>
            <a:ext cx="447141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Not detected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4114800"/>
            <a:ext cx="4471416" cy="7772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No auth, SQL database, Docker, workers, React build, or admin panel in source.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02336"/>
            <a:ext cx="5303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Aptos"/>
              </a:defRPr>
            </a:pPr>
            <a:r>
              <a:t>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766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600" b="1">
                <a:solidFill>
                  <a:srgbClr val="F5F8FF"/>
                </a:solidFill>
                <a:latin typeface="Aptos"/>
              </a:defRPr>
            </a:pPr>
            <a:r>
              <a:t>The actual deployment is intentionally small</a:t>
            </a:r>
          </a:p>
        </p:txBody>
      </p:sp>
      <p:pic>
        <p:nvPicPr>
          <p:cNvPr id="5" name="Picture 4" descr="real_runtime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98448"/>
            <a:ext cx="1083564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02336"/>
            <a:ext cx="5303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Aptos"/>
              </a:defRPr>
            </a:pPr>
            <a:r>
              <a:t>REQUEST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766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600" b="1">
                <a:solidFill>
                  <a:srgbClr val="F5F8FF"/>
                </a:solidFill>
                <a:latin typeface="Aptos"/>
              </a:defRPr>
            </a:pPr>
            <a:r>
              <a:t>A transfer is admitted only after route validation, signing, balance reservation and mempool checks</a:t>
            </a:r>
          </a:p>
        </p:txBody>
      </p:sp>
      <p:pic>
        <p:nvPicPr>
          <p:cNvPr id="5" name="Picture 4" descr="real_request_life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98448"/>
            <a:ext cx="1083564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02336"/>
            <a:ext cx="5303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Aptos"/>
              </a:defRPr>
            </a:pPr>
            <a:r>
              <a:t>SERVICE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766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600" b="1">
                <a:solidFill>
                  <a:srgbClr val="F5F8FF"/>
                </a:solidFill>
                <a:latin typeface="Aptos"/>
              </a:defRPr>
            </a:pPr>
            <a:r>
              <a:t>api.py stays thin because behavior lives in dedicated orchestration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630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BlockchainService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Loads/saves chain, validates chain, exposes stats, replaces longer valid chains.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8848" y="14630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6276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WalletService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0116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Creates ECDSA wallets, keeps names, persists private keys through WalletStore.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9328" y="14630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6276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TransactionService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0116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Validates addresses/amounts, checks pending outgoing balance, signs, admits to mempool.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5204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850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MiningService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690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Validates miner wallet, creates Miner, mines synchronously, returns nonce/time/hash.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8848" y="35204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36850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AnalyticsService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0690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Computes chart series, miner rewards, storage size, health and sync progress.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9328" y="35204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36850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SyncService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0690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Registers peers and asks ChainSynchronizer for longer chains.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02336"/>
            <a:ext cx="5303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Aptos"/>
              </a:defRPr>
            </a:pPr>
            <a:r>
              <a:t>LEDGER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766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600" b="1">
                <a:solidFill>
                  <a:srgbClr val="F5F8FF"/>
                </a:solidFill>
                <a:latin typeface="Aptos"/>
              </a:defRPr>
            </a:pPr>
            <a:r>
              <a:t>The simulator chooses account balances because the learning objective is transaction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3246120" cy="3566160"/>
          </a:xfrm>
          <a:prstGeom prst="roundRect">
            <a:avLst/>
          </a:prstGeom>
          <a:solidFill>
            <a:srgbClr val="101831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1719072"/>
            <a:ext cx="282549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Implemented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2103120"/>
            <a:ext cx="2825496" cy="29260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Account balances are not stored as rows. `Blockchain.get_balance()` rebuilds a cache by replaying confirmed transactions and invalidates it on mutation.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54480"/>
            <a:ext cx="3246120" cy="3566160"/>
          </a:xfrm>
          <a:prstGeom prst="roundRect">
            <a:avLst/>
          </a:prstGeom>
          <a:solidFill>
            <a:srgbClr val="101831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1719072"/>
            <a:ext cx="282549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Why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2103120"/>
            <a:ext cx="2825496" cy="29260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For teaching, Alice -&gt; Bob transfers are easier to follow than UTXO coin selection. The trade-off is less production realism.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54480"/>
            <a:ext cx="3246120" cy="3566160"/>
          </a:xfrm>
          <a:prstGeom prst="roundRect">
            <a:avLst/>
          </a:prstGeom>
          <a:solidFill>
            <a:srgbClr val="10183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719072"/>
            <a:ext cx="282549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103120"/>
            <a:ext cx="2825496" cy="29260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Float amounts, no account nonce, no fees, no gas, no supply cap, no Merkle root in block headers.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02336"/>
            <a:ext cx="5303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766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600" b="1">
                <a:solidFill>
                  <a:srgbClr val="F5F8FF"/>
                </a:solidFill>
                <a:latin typeface="Aptos"/>
              </a:defRPr>
            </a:pPr>
            <a:r>
              <a:t>Consensus safety is enforced by deterministic replay</a:t>
            </a:r>
          </a:p>
        </p:txBody>
      </p:sp>
      <p:pic>
        <p:nvPicPr>
          <p:cNvPr id="5" name="Picture 4" descr="real_validation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98448"/>
            <a:ext cx="1083564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02336"/>
            <a:ext cx="5303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Aptos"/>
              </a:defRPr>
            </a:pPr>
            <a:r>
              <a:t>CRYPTOGRAPHY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766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600" b="1">
                <a:solidFill>
                  <a:srgbClr val="F5F8FF"/>
                </a:solidFill>
                <a:latin typeface="Aptos"/>
              </a:defRPr>
            </a:pPr>
            <a:r>
              <a:t>Real primitives are used, but custody is simplified for education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3337560" cy="3886200"/>
          </a:xfrm>
          <a:prstGeom prst="roundRect">
            <a:avLst/>
          </a:prstGeom>
          <a:solidFill>
            <a:srgbClr val="101831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1907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SHA-256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103120"/>
            <a:ext cx="2916936" cy="32461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Blocks and transactions hash deterministic JSON using `sha256_dict(..., legacy=True)` so stored chains remain compatible.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37560" cy="3886200"/>
          </a:xfrm>
          <a:prstGeom prst="roundRect">
            <a:avLst/>
          </a:prstGeom>
          <a:solidFill>
            <a:srgbClr val="101831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71907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ECDSA NIST256p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103120"/>
            <a:ext cx="2916936" cy="32461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Wallets generate ECDSA key pairs. Transactions sign the payload hash and validation checks public key -&gt; address mapping.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554480"/>
            <a:ext cx="3337560" cy="3886200"/>
          </a:xfrm>
          <a:prstGeom prst="roundRect">
            <a:avLst/>
          </a:prstGeom>
          <a:solidFill>
            <a:srgbClr val="101831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71907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Fernet at 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103120"/>
            <a:ext cx="2916936" cy="32461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Private keys are stored in `data/wallets.enc`; the API never returns private keys, but signing is server-side by design.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02336"/>
            <a:ext cx="5303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Aptos"/>
              </a:defRPr>
            </a:pPr>
            <a:r>
              <a:t>MINING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766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600" b="1">
                <a:solidFill>
                  <a:srgbClr val="F5F8FF"/>
                </a:solidFill>
                <a:latin typeface="Aptos"/>
              </a:defRPr>
            </a:pPr>
            <a:r>
              <a:t>Proof-of-Work is implemented as a visible nonce search</a:t>
            </a:r>
          </a:p>
        </p:txBody>
      </p:sp>
      <p:pic>
        <p:nvPicPr>
          <p:cNvPr id="5" name="Picture 4" descr="mining-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5303520" cy="4434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63640" y="1572768"/>
            <a:ext cx="2423160" cy="1188720"/>
          </a:xfrm>
          <a:prstGeom prst="roundRect">
            <a:avLst/>
          </a:prstGeom>
          <a:solidFill>
            <a:srgbClr val="101831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737360"/>
            <a:ext cx="20025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2121408"/>
            <a:ext cx="2002536" cy="5486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`hash.startswith('0' * difficulty)`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572768"/>
            <a:ext cx="2423160" cy="1188720"/>
          </a:xfrm>
          <a:prstGeom prst="roundRect">
            <a:avLst/>
          </a:prstGeom>
          <a:solidFill>
            <a:srgbClr val="101831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79992" y="1737360"/>
            <a:ext cx="20025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Reward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9992" y="2121408"/>
            <a:ext cx="2002536" cy="5486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`SYSTEM` transaction mints 10.0 coins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154680"/>
            <a:ext cx="5029200" cy="1417320"/>
          </a:xfrm>
          <a:prstGeom prst="roundRect">
            <a:avLst/>
          </a:prstGeom>
          <a:solidFill>
            <a:srgbClr val="10183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3319272"/>
            <a:ext cx="460857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Trade-off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703320"/>
            <a:ext cx="4608576" cy="7772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Mining runs synchronously on the API thread. This is acceptable at low difficulty and makes the educational timing visible.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02336"/>
            <a:ext cx="5303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766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600" b="1">
                <a:solidFill>
                  <a:srgbClr val="F5F8FF"/>
                </a:solidFill>
                <a:latin typeface="Aptos"/>
              </a:defRPr>
            </a:pPr>
            <a:r>
              <a:t>The browser architecture is intentionally transparent</a:t>
            </a:r>
          </a:p>
        </p:txBody>
      </p:sp>
      <p:pic>
        <p:nvPicPr>
          <p:cNvPr id="5" name="Picture 4" descr="real_frontend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98448"/>
            <a:ext cx="1083564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02336"/>
            <a:ext cx="5303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766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600" b="1">
                <a:solidFill>
                  <a:srgbClr val="F5F8FF"/>
                </a:solidFill>
                <a:latin typeface="Aptos"/>
              </a:defRPr>
            </a:pPr>
            <a:r>
              <a:t>Most optimizations are small, local, and visible in source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630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ApiCache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TTL cache plus in-flight dedup prevents duplicate GET calls.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8848" y="14630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6276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Mutation invalidation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0116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POST actions invalidate affected prefixes: blocks, stats, wallets, analytics.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9328" y="14630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6276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Fingerprints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0116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Renderer skips DOM updates when block/stat/wallet fingerprints are unchanged.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5204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850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VirtualList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690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Blocks table windows rows after 40 items.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8848" y="35204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36850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Scheduler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0690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DOM writes are batched with requestAnimationFrame; polling pauses when tab is hidden.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9328" y="35204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36850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Lazy modules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0690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Chart.js, Visualize, Learn and Lab load only when opened.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02336"/>
            <a:ext cx="5303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766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600" b="1">
                <a:solidFill>
                  <a:srgbClr val="F5F8FF"/>
                </a:solidFill>
                <a:latin typeface="Aptos"/>
              </a:defRPr>
            </a:pPr>
            <a:r>
              <a:t>The security model is honest about its trust boundaries</a:t>
            </a:r>
          </a:p>
        </p:txBody>
      </p:sp>
      <p:pic>
        <p:nvPicPr>
          <p:cNvPr id="5" name="Picture 4" descr="real_security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98448"/>
            <a:ext cx="1083564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02336"/>
            <a:ext cx="5303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766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600" b="1">
                <a:solidFill>
                  <a:srgbClr val="F5F8FF"/>
                </a:solidFill>
                <a:latin typeface="Aptos"/>
              </a:defRPr>
            </a:pPr>
            <a:r>
              <a:t>There is no hidden database: persistence is JSON and encrypted files</a:t>
            </a:r>
          </a:p>
        </p:txBody>
      </p:sp>
      <p:pic>
        <p:nvPicPr>
          <p:cNvPr id="5" name="Picture 4" descr="real_data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98448"/>
            <a:ext cx="1083564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02336"/>
            <a:ext cx="5303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Aptos"/>
              </a:defRPr>
            </a:pPr>
            <a:r>
              <a:t>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766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600" b="1">
                <a:solidFill>
                  <a:srgbClr val="F5F8FF"/>
                </a:solidFill>
                <a:latin typeface="Aptos"/>
              </a:defRPr>
            </a:pPr>
            <a:r>
              <a:t>The REST surface mirrors the teaching workflow</a:t>
            </a:r>
          </a:p>
        </p:txBody>
      </p:sp>
      <p:pic>
        <p:nvPicPr>
          <p:cNvPr id="5" name="Picture 4" descr="swagger-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53312"/>
            <a:ext cx="5715000" cy="4434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29400" y="1508760"/>
            <a:ext cx="4572000" cy="841248"/>
          </a:xfrm>
          <a:prstGeom prst="roundRect">
            <a:avLst/>
          </a:prstGeom>
          <a:solidFill>
            <a:srgbClr val="101831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39712" y="1673351"/>
            <a:ext cx="415137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39712" y="2057400"/>
            <a:ext cx="4151376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/health /chain /stats /analytics /blocks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2651760"/>
            <a:ext cx="4572000" cy="841248"/>
          </a:xfrm>
          <a:prstGeom prst="roundRect">
            <a:avLst/>
          </a:prstGeom>
          <a:solidFill>
            <a:srgbClr val="101831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9712" y="2816352"/>
            <a:ext cx="415137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9712" y="3200400"/>
            <a:ext cx="4151376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/wallet/create /transaction/create /mine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3794760"/>
            <a:ext cx="4572000" cy="841248"/>
          </a:xfrm>
          <a:prstGeom prst="roundRect">
            <a:avLst/>
          </a:prstGeom>
          <a:solidFill>
            <a:srgbClr val="101831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9712" y="3959352"/>
            <a:ext cx="415137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Stress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9712" y="4343400"/>
            <a:ext cx="4151376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/tamper /attack/51percent /validate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4937760"/>
            <a:ext cx="4572000" cy="841248"/>
          </a:xfrm>
          <a:prstGeom prst="roundRect">
            <a:avLst/>
          </a:prstGeom>
          <a:solidFill>
            <a:srgbClr val="101831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5102352"/>
            <a:ext cx="415137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712" y="5486400"/>
            <a:ext cx="4151376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/peers /peers/register /network/sync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02336"/>
            <a:ext cx="5303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766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600" b="1">
                <a:solidFill>
                  <a:srgbClr val="F5F8FF"/>
                </a:solidFill>
                <a:latin typeface="Aptos"/>
              </a:defRPr>
            </a:pPr>
            <a:r>
              <a:t>The charts are computed from chain objects, not a separate telemetry store</a:t>
            </a:r>
          </a:p>
        </p:txBody>
      </p:sp>
      <p:pic>
        <p:nvPicPr>
          <p:cNvPr id="5" name="Picture 4" descr="analytics-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57400"/>
            <a:ext cx="10927080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234440"/>
            <a:ext cx="2331720" cy="658368"/>
          </a:xfrm>
          <a:prstGeom prst="roundRect">
            <a:avLst/>
          </a:prstGeom>
          <a:solidFill>
            <a:srgbClr val="101831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399032"/>
            <a:ext cx="1911095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Height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783080"/>
            <a:ext cx="1911095" cy="182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34440"/>
            <a:ext cx="2331720" cy="658368"/>
          </a:xfrm>
          <a:prstGeom prst="roundRect">
            <a:avLst/>
          </a:prstGeom>
          <a:solidFill>
            <a:srgbClr val="101831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0752" y="1399032"/>
            <a:ext cx="1911095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Tx/block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1783080"/>
            <a:ext cx="1911095" cy="182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2.8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234440"/>
            <a:ext cx="2331720" cy="658368"/>
          </a:xfrm>
          <a:prstGeom prst="roundRect">
            <a:avLst/>
          </a:prstGeom>
          <a:solidFill>
            <a:srgbClr val="101831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399032"/>
            <a:ext cx="1911095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Hash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1783080"/>
            <a:ext cx="1911095" cy="182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23.5K H/s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234440"/>
            <a:ext cx="2331720" cy="658368"/>
          </a:xfrm>
          <a:prstGeom prst="roundRect">
            <a:avLst/>
          </a:prstGeom>
          <a:solidFill>
            <a:srgbClr val="101831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2" y="1399032"/>
            <a:ext cx="1911095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08592" y="1783080"/>
            <a:ext cx="1911095" cy="182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16.16 KB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02336"/>
            <a:ext cx="5303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Aptos"/>
              </a:defRPr>
            </a:pPr>
            <a:r>
              <a:t>LEARNING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766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600" b="1">
                <a:solidFill>
                  <a:srgbClr val="F5F8FF"/>
                </a:solidFill>
                <a:latin typeface="Aptos"/>
              </a:defRPr>
            </a:pPr>
            <a:r>
              <a:t>Education content is wired back to live visualizations and dashboard views</a:t>
            </a:r>
          </a:p>
        </p:txBody>
      </p:sp>
      <p:pic>
        <p:nvPicPr>
          <p:cNvPr id="5" name="Picture 4" descr="learn-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53312"/>
            <a:ext cx="6035040" cy="4572000"/>
          </a:xfrm>
          <a:prstGeom prst="rect">
            <a:avLst/>
          </a:prstGeom>
        </p:spPr>
      </p:pic>
      <p:pic>
        <p:nvPicPr>
          <p:cNvPr id="6" name="Picture 5" descr="visualize-fr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353312"/>
            <a:ext cx="5257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02336"/>
            <a:ext cx="5303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Aptos"/>
              </a:defRPr>
            </a:pPr>
            <a:r>
              <a:t>SECURITY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766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600" b="1">
                <a:solidFill>
                  <a:srgbClr val="F5F8FF"/>
                </a:solidFill>
                <a:latin typeface="Aptos"/>
              </a:defRPr>
            </a:pPr>
            <a:r>
              <a:t>Threat modeling is part of the product, not an appendix</a:t>
            </a:r>
          </a:p>
        </p:txBody>
      </p:sp>
      <p:pic>
        <p:nvPicPr>
          <p:cNvPr id="5" name="Picture 4" descr="lab-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53312"/>
            <a:ext cx="6400800" cy="4617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645920"/>
            <a:ext cx="3840480" cy="960120"/>
          </a:xfrm>
          <a:prstGeom prst="roundRect">
            <a:avLst/>
          </a:prstGeom>
          <a:solidFill>
            <a:srgbClr val="101831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25512" y="1810512"/>
            <a:ext cx="341985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Threat catalog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5512" y="2194560"/>
            <a:ext cx="341985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11 topics across integrity, transaction, consensus and network categories.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907792"/>
            <a:ext cx="3840480" cy="960120"/>
          </a:xfrm>
          <a:prstGeom prst="roundRect">
            <a:avLst/>
          </a:prstGeom>
          <a:solidFill>
            <a:srgbClr val="101831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25512" y="3072384"/>
            <a:ext cx="341985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Live API demos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5512" y="3456432"/>
            <a:ext cx="341985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Tamper detection and 51% attack call backend endpoints.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4169663"/>
            <a:ext cx="3840480" cy="960120"/>
          </a:xfrm>
          <a:prstGeom prst="roundRect">
            <a:avLst/>
          </a:prstGeom>
          <a:solidFill>
            <a:srgbClr val="101831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5512" y="4334255"/>
            <a:ext cx="341985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Non-destructive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5512" y="4718303"/>
            <a:ext cx="341985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Tamper service restores original chain state after demonstration.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02336"/>
            <a:ext cx="5303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Aptos"/>
              </a:defRPr>
            </a:pPr>
            <a:r>
              <a:t>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766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600" b="1">
                <a:solidFill>
                  <a:srgbClr val="F5F8FF"/>
                </a:solidFill>
                <a:latin typeface="Aptos"/>
              </a:defRPr>
            </a:pPr>
            <a:r>
              <a:t>The dashboard is built for classroom and defense environments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630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Landmarks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main, banner, nav, contentinfo and table captions.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8848" y="14630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6276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Keyboard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0116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Tab order, Escape for mobile menu, '?' shortcuts, roving topic lists.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9328" y="14630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6276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Announcements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0116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ARIA live region for view changes, status and connection events.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5204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850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Contrast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690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A+ toggle, prefers-contrast and forced-colors rules.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8848" y="35204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36850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Motion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0690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prefers-reduced-motion disables animation-heavy effects.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9328" y="35204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36850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Touch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0690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44px targets for buttons and navigation.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02336"/>
            <a:ext cx="5303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Aptos"/>
              </a:defRPr>
            </a:pPr>
            <a:r>
              <a:t>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766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600" b="1">
                <a:solidFill>
                  <a:srgbClr val="F5F8FF"/>
                </a:solidFill>
                <a:latin typeface="Aptos"/>
              </a:defRPr>
            </a:pPr>
            <a:r>
              <a:t>A learner moves from identity to validated history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560320"/>
            <a:ext cx="1572768" cy="1234440"/>
          </a:xfrm>
          <a:prstGeom prst="roundRect">
            <a:avLst/>
          </a:prstGeom>
          <a:solidFill>
            <a:srgbClr val="101831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724912"/>
            <a:ext cx="1152144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Create wallet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108960"/>
            <a:ext cx="1152144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WalletService + Fernet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13432" y="3127248"/>
            <a:ext cx="2743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200" b="1">
                <a:solidFill>
                  <a:srgbClr val="94A3B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3017520"/>
            <a:ext cx="1572768" cy="1234440"/>
          </a:xfrm>
          <a:prstGeom prst="roundRect">
            <a:avLst/>
          </a:prstGeom>
          <a:solidFill>
            <a:srgbClr val="101831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70632" y="3182112"/>
            <a:ext cx="1152144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Mine reward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0632" y="3566160"/>
            <a:ext cx="1152144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MiningService + SYSTEM 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7952" y="3127248"/>
            <a:ext cx="2743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200" b="1">
                <a:solidFill>
                  <a:srgbClr val="94A3B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560320"/>
            <a:ext cx="1572768" cy="1234440"/>
          </a:xfrm>
          <a:prstGeom prst="roundRect">
            <a:avLst/>
          </a:prstGeom>
          <a:solidFill>
            <a:srgbClr val="101831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2724912"/>
            <a:ext cx="1152144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Send transfer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108960"/>
            <a:ext cx="1152144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TransactionService + ECDSA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2472" y="3127248"/>
            <a:ext cx="2743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200" b="1">
                <a:solidFill>
                  <a:srgbClr val="94A3B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3017520"/>
            <a:ext cx="1572768" cy="1234440"/>
          </a:xfrm>
          <a:prstGeom prst="roundRect">
            <a:avLst/>
          </a:prstGeom>
          <a:solidFill>
            <a:srgbClr val="101831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3182112"/>
            <a:ext cx="1152144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566160"/>
            <a:ext cx="1152144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Blockchain replay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3127248"/>
            <a:ext cx="2743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200" b="1">
                <a:solidFill>
                  <a:srgbClr val="94A3B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2560320"/>
            <a:ext cx="1572768" cy="1234440"/>
          </a:xfrm>
          <a:prstGeom prst="roundRect">
            <a:avLst/>
          </a:prstGeom>
          <a:solidFill>
            <a:srgbClr val="10183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2724912"/>
            <a:ext cx="1152144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Attack 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3108960"/>
            <a:ext cx="1152144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Tamper / 51% simulation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1511" y="3127248"/>
            <a:ext cx="2743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200" b="1">
                <a:solidFill>
                  <a:srgbClr val="94A3B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3017520"/>
            <a:ext cx="1572768" cy="1234440"/>
          </a:xfrm>
          <a:prstGeom prst="roundRect">
            <a:avLst/>
          </a:prstGeom>
          <a:solidFill>
            <a:srgbClr val="101831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68712" y="3182112"/>
            <a:ext cx="1152144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68712" y="3566160"/>
            <a:ext cx="1152144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Learn + Visualize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02336"/>
            <a:ext cx="5303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Aptos"/>
              </a:defRPr>
            </a:pPr>
            <a:r>
              <a:t>ENGINEERING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766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600" b="1">
                <a:solidFill>
                  <a:srgbClr val="F5F8FF"/>
                </a:solidFill>
                <a:latin typeface="Aptos"/>
              </a:defRPr>
            </a:pPr>
            <a:r>
              <a:t>Every simplification serves the educational simulator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630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Chosen here because Pydantic route models and OpenAPI make API behavior inspectable during demos.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8848" y="14630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6276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Vanilla 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0116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Chosen here so students can read the UI without a bundler, component compiler or framework layer.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9328" y="14630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6276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JSON persistence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0116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Chosen here because chain snapshots can be opened and compared during architecture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5204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850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Server-side signing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690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Chosen here to keep wallet UX simple; documented as non-production custody.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8848" y="35204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36850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HTTP sync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0690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Chosen here to demonstrate longest-chain adoption without implementing native P2P gossip.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9328" y="35204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36850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Account balances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0690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Chosen here to teach transfer flow before UTXO complexity.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02336"/>
            <a:ext cx="5303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766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600" b="1">
                <a:solidFill>
                  <a:srgbClr val="F5F8FF"/>
                </a:solidFill>
                <a:latin typeface="Aptos"/>
              </a:defRPr>
            </a:pPr>
            <a:r>
              <a:t>The project is clear about what it does not implement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630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No authenticated peers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HTTP sync trusts registered URLs.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8848" y="14630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6276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No transaction nonce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0116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Mempool dedup prevents exact duplicates, not full account replay semantics.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9328" y="14630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6276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Float amounts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0116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Acceptable for demos, not financial precision.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5204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850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No Merkle header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690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Visualize teaches Merkle trees; block hash uses flat tx list.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8848" y="35204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36850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Synchronous mining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0690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Simple for low difficulty; unsuitable for heavy workloads.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9328" y="35204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36850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No production wallet custody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0690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Private keys are server-side for teaching UX.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02336"/>
            <a:ext cx="5303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Aptos"/>
              </a:defRPr>
            </a:pPr>
            <a: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766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600" b="1">
                <a:solidFill>
                  <a:srgbClr val="F5F8FF"/>
                </a:solidFill>
                <a:latin typeface="Aptos"/>
              </a:defRPr>
            </a:pPr>
            <a:r>
              <a:t>Chain Explorer is a microscope, not a public 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4754880"/>
          </a:xfrm>
          <a:prstGeom prst="roundRect">
            <a:avLst/>
          </a:prstGeom>
          <a:solidFill>
            <a:srgbClr val="101831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81912"/>
            <a:ext cx="10415015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Implementation-aligned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47088"/>
            <a:ext cx="21031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00" b="1">
                <a:solidFill>
                  <a:srgbClr val="22D3EE"/>
                </a:solidFill>
                <a:latin typeface="Aptos"/>
              </a:defRPr>
            </a:pPr>
            <a:r>
              <a:t>Dimension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847088"/>
            <a:ext cx="21031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00" b="1">
                <a:solidFill>
                  <a:srgbClr val="22D3EE"/>
                </a:solidFill>
                <a:latin typeface="Aptos"/>
              </a:defRPr>
            </a:pPr>
            <a:r>
              <a:t>Chain Explorer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847088"/>
            <a:ext cx="21031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00" b="1">
                <a:solidFill>
                  <a:srgbClr val="22D3EE"/>
                </a:solidFill>
                <a:latin typeface="Aptos"/>
              </a:defRPr>
            </a:pPr>
            <a:r>
              <a:t>Bitcoin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847088"/>
            <a:ext cx="21031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200" b="1">
                <a:solidFill>
                  <a:srgbClr val="22D3EE"/>
                </a:solidFill>
                <a:latin typeface="Aptos"/>
              </a:defRPr>
            </a:pPr>
            <a:r>
              <a:t>Ethereum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22860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019" b="0">
                <a:solidFill>
                  <a:srgbClr val="94A3B8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331720"/>
            <a:ext cx="22860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019" b="0">
                <a:solidFill>
                  <a:srgbClr val="F5F8FF"/>
                </a:solidFill>
                <a:latin typeface="Aptos"/>
              </a:defRPr>
            </a:pPr>
            <a:r>
              <a:t>Education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331720"/>
            <a:ext cx="22860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019" b="0">
                <a:solidFill>
                  <a:srgbClr val="F5F8FF"/>
                </a:solidFill>
                <a:latin typeface="Aptos"/>
              </a:defRPr>
            </a:pPr>
            <a:r>
              <a:t>Peer money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331720"/>
            <a:ext cx="22860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019" b="0">
                <a:solidFill>
                  <a:srgbClr val="F5F8FF"/>
                </a:solidFill>
                <a:latin typeface="Aptos"/>
              </a:defRPr>
            </a:pPr>
            <a:r>
              <a:t>Programmable settlement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843784"/>
            <a:ext cx="22860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019" b="0">
                <a:solidFill>
                  <a:srgbClr val="94A3B8"/>
                </a:solidFill>
                <a:latin typeface="Aptos"/>
              </a:defRPr>
            </a:pPr>
            <a:r>
              <a:t>Ledger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843784"/>
            <a:ext cx="22860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019" b="0">
                <a:solidFill>
                  <a:srgbClr val="F5F8FF"/>
                </a:solidFill>
                <a:latin typeface="Aptos"/>
              </a:defRPr>
            </a:pPr>
            <a:r>
              <a:t>Account balances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843784"/>
            <a:ext cx="22860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019" b="0">
                <a:solidFill>
                  <a:srgbClr val="F5F8FF"/>
                </a:solidFill>
                <a:latin typeface="Aptos"/>
              </a:defRPr>
            </a:pPr>
            <a:r>
              <a:t>UTXO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843784"/>
            <a:ext cx="22860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019" b="0">
                <a:solidFill>
                  <a:srgbClr val="F5F8FF"/>
                </a:solidFill>
                <a:latin typeface="Aptos"/>
              </a:defRPr>
            </a:pPr>
            <a:r>
              <a:t>Accounts + contracts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355848"/>
            <a:ext cx="22860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019" b="0">
                <a:solidFill>
                  <a:srgbClr val="94A3B8"/>
                </a:solidFill>
                <a:latin typeface="Aptos"/>
              </a:defRPr>
            </a:pPr>
            <a:r>
              <a:t>Consensus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355848"/>
            <a:ext cx="22860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019" b="0">
                <a:solidFill>
                  <a:srgbClr val="F5F8FF"/>
                </a:solidFill>
                <a:latin typeface="Aptos"/>
              </a:defRPr>
            </a:pPr>
            <a:r>
              <a:t>PoW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355848"/>
            <a:ext cx="22860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019" b="0">
                <a:solidFill>
                  <a:srgbClr val="F5F8FF"/>
                </a:solidFill>
                <a:latin typeface="Aptos"/>
              </a:defRPr>
            </a:pPr>
            <a:r>
              <a:t>PoW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355848"/>
            <a:ext cx="22860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019" b="0">
                <a:solidFill>
                  <a:srgbClr val="F5F8FF"/>
                </a:solidFill>
                <a:latin typeface="Aptos"/>
              </a:defRPr>
            </a:pPr>
            <a:r>
              <a:t>PoS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867912"/>
            <a:ext cx="22860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019" b="0">
                <a:solidFill>
                  <a:srgbClr val="94A3B8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867912"/>
            <a:ext cx="22860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019" b="0">
                <a:solidFill>
                  <a:srgbClr val="F5F8FF"/>
                </a:solidFill>
                <a:latin typeface="Aptos"/>
              </a:defRPr>
            </a:pPr>
            <a:r>
              <a:t>HTTP sync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867912"/>
            <a:ext cx="22860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019" b="0">
                <a:solidFill>
                  <a:srgbClr val="F5F8FF"/>
                </a:solidFill>
                <a:latin typeface="Aptos"/>
              </a:defRPr>
            </a:pPr>
            <a:r>
              <a:t>Native P2P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3867912"/>
            <a:ext cx="22860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019" b="0">
                <a:solidFill>
                  <a:srgbClr val="F5F8FF"/>
                </a:solidFill>
                <a:latin typeface="Aptos"/>
              </a:defRPr>
            </a:pPr>
            <a:r>
              <a:t>P2P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379976"/>
            <a:ext cx="22860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019" b="0">
                <a:solidFill>
                  <a:srgbClr val="94A3B8"/>
                </a:solidFill>
                <a:latin typeface="Aptos"/>
              </a:defRPr>
            </a:pPr>
            <a:r>
              <a:t>Storage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379976"/>
            <a:ext cx="22860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019" b="0">
                <a:solidFill>
                  <a:srgbClr val="F5F8FF"/>
                </a:solidFill>
                <a:latin typeface="Aptos"/>
              </a:defRPr>
            </a:pPr>
            <a:r>
              <a:t>JSON/Fernet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4379976"/>
            <a:ext cx="22860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019" b="0">
                <a:solidFill>
                  <a:srgbClr val="F5F8FF"/>
                </a:solidFill>
                <a:latin typeface="Aptos"/>
              </a:defRPr>
            </a:pPr>
            <a:r>
              <a:t>Client 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4379976"/>
            <a:ext cx="22860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019" b="0">
                <a:solidFill>
                  <a:srgbClr val="F5F8FF"/>
                </a:solidFill>
                <a:latin typeface="Aptos"/>
              </a:defRPr>
            </a:pPr>
            <a:r>
              <a:t>Client 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892040"/>
            <a:ext cx="22860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019" b="0">
                <a:solidFill>
                  <a:srgbClr val="94A3B8"/>
                </a:solidFill>
                <a:latin typeface="Aptos"/>
              </a:defRPr>
            </a:pPr>
            <a:r>
              <a:t>Contracts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4892040"/>
            <a:ext cx="22860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019" b="0">
                <a:solidFill>
                  <a:srgbClr val="F5F8FF"/>
                </a:solidFill>
                <a:latin typeface="Aptos"/>
              </a:defRPr>
            </a:pPr>
            <a:r>
              <a:t>Not implemented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892040"/>
            <a:ext cx="22860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019" b="0">
                <a:solidFill>
                  <a:srgbClr val="F5F8FF"/>
                </a:solidFill>
                <a:latin typeface="Aptos"/>
              </a:defRPr>
            </a:pPr>
            <a:r>
              <a:t>Script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4892040"/>
            <a:ext cx="22860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019" b="0">
                <a:solidFill>
                  <a:srgbClr val="F5F8FF"/>
                </a:solidFill>
                <a:latin typeface="Aptos"/>
              </a:defRPr>
            </a:pPr>
            <a:r>
              <a:t>EVM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02336"/>
            <a:ext cx="5303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Aptos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766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600" b="1">
                <a:solidFill>
                  <a:srgbClr val="F5F8FF"/>
                </a:solidFill>
                <a:latin typeface="Aptos"/>
              </a:defRPr>
            </a:pPr>
            <a:r>
              <a:t>The system can be presented as a coherent product</a:t>
            </a:r>
          </a:p>
        </p:txBody>
      </p:sp>
      <p:pic>
        <p:nvPicPr>
          <p:cNvPr id="5" name="Picture 4" descr="overview-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98448"/>
            <a:ext cx="4846320" cy="2651760"/>
          </a:xfrm>
          <a:prstGeom prst="rect">
            <a:avLst/>
          </a:prstGeom>
        </p:spPr>
      </p:pic>
      <p:pic>
        <p:nvPicPr>
          <p:cNvPr id="6" name="Picture 5" descr="demo-walle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43000"/>
            <a:ext cx="3474720" cy="2011680"/>
          </a:xfrm>
          <a:prstGeom prst="rect">
            <a:avLst/>
          </a:prstGeom>
        </p:spPr>
      </p:pic>
      <p:pic>
        <p:nvPicPr>
          <p:cNvPr id="7" name="Picture 6" descr="analytics-fra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886200"/>
            <a:ext cx="4251960" cy="2057400"/>
          </a:xfrm>
          <a:prstGeom prst="rect">
            <a:avLst/>
          </a:prstGeom>
        </p:spPr>
      </p:pic>
      <p:pic>
        <p:nvPicPr>
          <p:cNvPr id="8" name="Picture 7" descr="lab-fra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3675887"/>
            <a:ext cx="4251960" cy="2148840"/>
          </a:xfrm>
          <a:prstGeom prst="rect">
            <a:avLst/>
          </a:prstGeom>
        </p:spPr>
      </p:pic>
      <p:pic>
        <p:nvPicPr>
          <p:cNvPr id="9" name="Picture 8" descr="demo-mob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0" y="1143000"/>
            <a:ext cx="16002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02336"/>
            <a:ext cx="5303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50" b="1">
                <a:solidFill>
                  <a:srgbClr val="22D3EE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8961120" cy="6766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600" b="1">
                <a:solidFill>
                  <a:srgbClr val="F5F8FF"/>
                </a:solidFill>
                <a:latin typeface="Aptos"/>
              </a:defRPr>
            </a:pPr>
            <a:r>
              <a:t>The next work should preserve explainability while adding guardrails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630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pytest for validation, crypto, services; UI smoke via Playwright.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8848" y="14630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6276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Docker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0116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Repeatable multi-node classroom labs.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9328" y="14630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6276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Client keys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0116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Move signing to browser for production-like custody.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5204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850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Auth for peers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690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Signed peer metadata or allowlist trust model.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8848" y="35204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36850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Integers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0690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Replace float amounts with smallest-unit integers.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9328" y="3520440"/>
            <a:ext cx="3337560" cy="1481328"/>
          </a:xfrm>
          <a:prstGeom prst="roundRect">
            <a:avLst/>
          </a:prstGeom>
          <a:solidFill>
            <a:srgbClr val="101831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3685032"/>
            <a:ext cx="291693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CI/CD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069080"/>
            <a:ext cx="2916936" cy="8412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Lint, tests, artifact build and presentation regeneration.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background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822960"/>
            <a:ext cx="41148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8046720" cy="9601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3500" b="1">
                <a:solidFill>
                  <a:srgbClr val="F5F8FF"/>
                </a:solidFill>
                <a:latin typeface="Aptos"/>
              </a:defRPr>
            </a:pPr>
            <a:r>
              <a:t>A complete learning platform for blockchain systems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788920"/>
            <a:ext cx="3246120" cy="1508760"/>
          </a:xfrm>
          <a:prstGeom prst="roundRect">
            <a:avLst/>
          </a:prstGeom>
          <a:solidFill>
            <a:srgbClr val="101831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953512"/>
            <a:ext cx="282549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Technical contribution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337560"/>
            <a:ext cx="2825496" cy="8686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Connects cryptography, validation, mining, persistence, APIs and UI state in one inspectable simulator.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788920"/>
            <a:ext cx="3246120" cy="1508760"/>
          </a:xfrm>
          <a:prstGeom prst="roundRect">
            <a:avLst/>
          </a:prstGeom>
          <a:solidFill>
            <a:srgbClr val="101831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2953512"/>
            <a:ext cx="282549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Educational 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3337560"/>
            <a:ext cx="2825496" cy="8686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Turns hidden blockchain mechanics into interactive workflows and attack simulations.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788920"/>
            <a:ext cx="3246120" cy="1508760"/>
          </a:xfrm>
          <a:prstGeom prst="roundRect">
            <a:avLst/>
          </a:prstGeom>
          <a:solidFill>
            <a:srgbClr val="101831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2953512"/>
            <a:ext cx="2825496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500" b="1">
                <a:solidFill>
                  <a:srgbClr val="F5F8FF"/>
                </a:solidFill>
                <a:latin typeface="Aptos"/>
              </a:defRPr>
            </a:pPr>
            <a:r>
              <a:t>Engineering maturity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3337560"/>
            <a:ext cx="2825496" cy="8686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980" b="0">
                <a:solidFill>
                  <a:srgbClr val="94A3B8"/>
                </a:solidFill>
                <a:latin typeface="Aptos"/>
              </a:defRPr>
            </a:pPr>
            <a:r>
              <a:t>Explicit boundaries, documented trade-offs, caching, a11y, structured errors and reproducible artifacts.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5532120"/>
            <a:ext cx="4572000" cy="5486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>
              <a:defRPr sz="3000" b="1">
                <a:solidFill>
                  <a:srgbClr val="F5F8FF"/>
                </a:solidFill>
                <a:latin typeface="Aptos"/>
              </a:defRPr>
            </a:pPr>
            <a: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